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1677" y="4134845"/>
            <a:ext cx="6644645" cy="161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0462C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1F212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462C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1F212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462C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0462C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20543" y="1044575"/>
            <a:ext cx="9493517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0462C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20543" y="2665343"/>
            <a:ext cx="7413625" cy="5862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1F212E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-228600" y="-41910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819400" y="3162300"/>
            <a:ext cx="13167360" cy="25095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410460" marR="5080" indent="-2398395" algn="ctr">
              <a:lnSpc>
                <a:spcPts val="6450"/>
              </a:lnSpc>
              <a:spcBef>
                <a:spcPts val="230"/>
              </a:spcBef>
            </a:pPr>
            <a:r>
              <a:rPr lang="en-US" altLang="en-US" spc="-25" dirty="0">
                <a:solidFill>
                  <a:srgbClr val="FF0000"/>
                </a:solidFill>
              </a:rPr>
              <a:t>Development of an AI-Powered Job Search and Recommendation System</a:t>
            </a:r>
            <a:r>
              <a:rPr lang="zh-CN" altLang="en-US" spc="-25" dirty="0">
                <a:solidFill>
                  <a:srgbClr val="FF0000"/>
                </a:solidFill>
              </a:rPr>
              <a:t></a:t>
            </a:r>
            <a:endParaRPr lang="zh-CN" altLang="en-US" spc="-25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600" y="6829425"/>
            <a:ext cx="1798320" cy="45529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861185" marR="5080" indent="-1849120">
              <a:lnSpc>
                <a:spcPts val="3300"/>
              </a:lnSpc>
              <a:spcBef>
                <a:spcPts val="260"/>
              </a:spcBef>
            </a:pPr>
            <a:r>
              <a:rPr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</a:rPr>
              <a:t>Supervisor:</a:t>
            </a:r>
            <a:r>
              <a:rPr sz="2800" b="1" spc="525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20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</a:rPr>
              <a:t> 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5775" y="5219700"/>
            <a:ext cx="1289685" cy="617855"/>
          </a:xfrm>
          <a:prstGeom prst="rect">
            <a:avLst/>
          </a:prstGeom>
        </p:spPr>
        <p:txBody>
          <a:bodyPr vert="horz" wrap="square" lIns="0" tIns="33019" rIns="0" bIns="0" rtlCol="0">
            <a:noAutofit/>
          </a:bodyPr>
          <a:lstStyle/>
          <a:p>
            <a:pPr marL="12700" marR="5080">
              <a:lnSpc>
                <a:spcPts val="3300"/>
              </a:lnSpc>
              <a:spcBef>
                <a:spcPts val="260"/>
              </a:spcBef>
            </a:pPr>
            <a:r>
              <a:rPr sz="2800" b="1" spc="-10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</a:rPr>
              <a:t>Student:</a:t>
            </a:r>
            <a:endParaRPr sz="2800" b="1" spc="-10" dirty="0">
              <a:solidFill>
                <a:srgbClr val="0462C1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300"/>
              </a:lnSpc>
              <a:spcBef>
                <a:spcPts val="260"/>
              </a:spcBef>
            </a:pP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67600" y="5219700"/>
            <a:ext cx="2485390" cy="99631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41910">
              <a:lnSpc>
                <a:spcPts val="3330"/>
              </a:lnSpc>
              <a:spcBef>
                <a:spcPts val="100"/>
              </a:spcBef>
            </a:pPr>
            <a:r>
              <a:rPr lang="vi-VN" altLang="en-US"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</a:rPr>
              <a:t>Doan Tien Dat</a:t>
            </a:r>
            <a:endParaRPr lang="vi-VN" altLang="en-US" sz="2800" b="1" dirty="0">
              <a:solidFill>
                <a:srgbClr val="0462C1"/>
              </a:solidFill>
              <a:latin typeface="Calibri" panose="020F0502020204030204"/>
              <a:cs typeface="Calibri" panose="020F0502020204030204"/>
            </a:endParaRPr>
          </a:p>
          <a:p>
            <a:pPr marL="41910">
              <a:lnSpc>
                <a:spcPts val="3330"/>
              </a:lnSpc>
              <a:spcBef>
                <a:spcPts val="100"/>
              </a:spcBef>
            </a:pPr>
            <a:r>
              <a:rPr lang="vi-VN" altLang="en-US" sz="2800" b="1" spc="-20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</a:rPr>
              <a:t>Vo Binh Minh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63600" y="7800975"/>
            <a:ext cx="4724399" cy="2486024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15200" y="6210300"/>
            <a:ext cx="6101080" cy="518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1910">
              <a:lnSpc>
                <a:spcPts val="3330"/>
              </a:lnSpc>
              <a:spcBef>
                <a:spcPts val="100"/>
              </a:spcBef>
            </a:pPr>
            <a:r>
              <a:rPr lang="vi-VN" altLang="en-US"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22SE1B - </a:t>
            </a:r>
            <a:r>
              <a:rPr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2</a:t>
            </a:r>
            <a:r>
              <a:rPr lang="vi-VN" altLang="en-US"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2SE2B</a:t>
            </a:r>
            <a:r>
              <a:rPr sz="2800" b="1" spc="-75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-</a:t>
            </a:r>
            <a:r>
              <a:rPr sz="2800" b="1" spc="-75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Software</a:t>
            </a:r>
            <a:r>
              <a:rPr sz="2800" b="1" spc="-70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800" b="1" spc="-10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Engineering</a:t>
            </a:r>
            <a:endParaRPr lang="en-US" sz="2800" b="1" spc="-10" dirty="0">
              <a:solidFill>
                <a:srgbClr val="0462C1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486400" y="6134735"/>
            <a:ext cx="1264920" cy="514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marR="5080">
              <a:lnSpc>
                <a:spcPts val="3300"/>
              </a:lnSpc>
              <a:spcBef>
                <a:spcPts val="260"/>
              </a:spcBef>
            </a:pPr>
            <a:r>
              <a:rPr sz="2800" b="1" spc="-10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Class:</a:t>
            </a:r>
            <a:endParaRPr lang="en-US" sz="2800" b="1" spc="-10" dirty="0">
              <a:solidFill>
                <a:srgbClr val="0462C1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7239000" y="6829425"/>
            <a:ext cx="31489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vi-VN" altLang="en-US" sz="2800" b="1" spc="525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 Dr</a:t>
            </a:r>
            <a:r>
              <a:rPr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.</a:t>
            </a:r>
            <a:r>
              <a:rPr sz="2800" b="1" spc="-55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lang="vi-VN" altLang="en-US" sz="2800" b="1" dirty="0">
                <a:solidFill>
                  <a:srgbClr val="0462C1"/>
                </a:solidFill>
                <a:latin typeface="Calibri" panose="020F0502020204030204"/>
                <a:cs typeface="Calibri" panose="020F0502020204030204"/>
                <a:sym typeface="+mn-ea"/>
              </a:rPr>
              <a:t>Tran Van Dai</a:t>
            </a:r>
            <a:endParaRPr lang="vi-VN" altLang="en-US" sz="2800" b="1" dirty="0">
              <a:solidFill>
                <a:srgbClr val="0462C1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57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PRESENTATION</a:t>
            </a:r>
            <a:r>
              <a:rPr spc="-229" dirty="0"/>
              <a:t> </a:t>
            </a:r>
            <a:r>
              <a:rPr spc="-10" dirty="0"/>
              <a:t>OUTLINE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7530" indent="-5448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57530" algn="l"/>
              </a:tabLst>
            </a:pPr>
            <a:r>
              <a:rPr dirty="0"/>
              <a:t>Context</a:t>
            </a:r>
            <a:r>
              <a:rPr spc="-6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spc="-10" dirty="0"/>
              <a:t>Statement</a:t>
            </a:r>
            <a:endParaRPr spc="-10" dirty="0"/>
          </a:p>
          <a:p>
            <a:pPr marL="557530" indent="-544830">
              <a:lnSpc>
                <a:spcPct val="100000"/>
              </a:lnSpc>
              <a:spcBef>
                <a:spcPts val="5040"/>
              </a:spcBef>
              <a:buAutoNum type="arabicPeriod"/>
              <a:tabLst>
                <a:tab pos="557530" algn="l"/>
              </a:tabLst>
            </a:pPr>
            <a:r>
              <a:rPr dirty="0"/>
              <a:t>Technologies</a:t>
            </a:r>
            <a:r>
              <a:rPr spc="-165" dirty="0"/>
              <a:t> </a:t>
            </a:r>
            <a:r>
              <a:rPr spc="-20" dirty="0"/>
              <a:t>Used</a:t>
            </a:r>
            <a:endParaRPr spc="-20" dirty="0"/>
          </a:p>
          <a:p>
            <a:pPr marL="557530" indent="-544830">
              <a:lnSpc>
                <a:spcPct val="100000"/>
              </a:lnSpc>
              <a:spcBef>
                <a:spcPts val="5040"/>
              </a:spcBef>
              <a:buAutoNum type="arabicPeriod"/>
              <a:tabLst>
                <a:tab pos="557530" algn="l"/>
              </a:tabLst>
            </a:pPr>
            <a:r>
              <a:rPr dirty="0"/>
              <a:t>System</a:t>
            </a:r>
            <a:r>
              <a:rPr spc="-95" dirty="0"/>
              <a:t> </a:t>
            </a:r>
            <a:r>
              <a:rPr dirty="0"/>
              <a:t>Analysis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Design</a:t>
            </a:r>
            <a:endParaRPr spc="-10" dirty="0"/>
          </a:p>
          <a:p>
            <a:pPr marL="557530" indent="-544830">
              <a:lnSpc>
                <a:spcPct val="100000"/>
              </a:lnSpc>
              <a:spcBef>
                <a:spcPts val="5040"/>
              </a:spcBef>
              <a:buAutoNum type="arabicPeriod"/>
              <a:tabLst>
                <a:tab pos="557530" algn="l"/>
              </a:tabLst>
            </a:pPr>
            <a:r>
              <a:rPr dirty="0"/>
              <a:t>AI</a:t>
            </a:r>
            <a:r>
              <a:rPr spc="-25" dirty="0"/>
              <a:t> </a:t>
            </a:r>
            <a:r>
              <a:rPr spc="-10" dirty="0"/>
              <a:t>Technologies</a:t>
            </a:r>
            <a:endParaRPr spc="-10" dirty="0"/>
          </a:p>
          <a:p>
            <a:pPr marL="557530" indent="-544830">
              <a:lnSpc>
                <a:spcPct val="100000"/>
              </a:lnSpc>
              <a:spcBef>
                <a:spcPts val="5040"/>
              </a:spcBef>
              <a:buAutoNum type="arabicPeriod"/>
              <a:tabLst>
                <a:tab pos="557530" algn="l"/>
              </a:tabLst>
            </a:pPr>
            <a:r>
              <a:rPr dirty="0"/>
              <a:t>Conclusion</a:t>
            </a:r>
            <a:r>
              <a:rPr spc="-9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20" dirty="0"/>
              <a:t>Demo</a:t>
            </a:r>
            <a:endParaRPr spc="-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1. Context &amp; Problem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7751445" y="2797810"/>
            <a:ext cx="10074275" cy="6217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3000" b="1">
                <a:latin typeface="Calibri" panose="020F0502020204030204"/>
                <a:cs typeface="Calibri" panose="020F0502020204030204"/>
              </a:rPr>
              <a:t>Digital Transformation in Recruitment</a:t>
            </a:r>
            <a:endParaRPr lang="en-US" altLang="en-US" sz="3000" b="1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Global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HR Tech market: ~$42B (2025) → ~$47B (2026)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87–99% of enterprises have adopted AI in recruitment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AI reduces hiring time by 25–75% and improves candidate quality by 25–35%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66% of candidates want to be informed when AI is evaluating them → driving demand for Explainable AI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Viet</a:t>
            </a:r>
            <a:r>
              <a:rPr lang="vi-VN" altLang="en-US" sz="2600" b="1">
                <a:latin typeface="Calibri" panose="020F0502020204030204"/>
                <a:cs typeface="Calibri" panose="020F0502020204030204"/>
              </a:rPr>
              <a:t> N</a:t>
            </a:r>
            <a:r>
              <a:rPr lang="en-US" altLang="en-US" sz="2600" b="1">
                <a:latin typeface="Calibri" panose="020F0502020204030204"/>
                <a:cs typeface="Calibri" panose="020F0502020204030204"/>
              </a:rPr>
              <a:t>am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83% of job seekers use online platforms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Projected GDP growth of ~6.2% in 2026, boosting recruitment activity in H2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AI has become a mandatory component in resume screening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TopCV and VietnamWorks still rely on keyword matching — semantic matching has yet to be adopted</a:t>
            </a:r>
            <a:r>
              <a:rPr lang="zh-CN" altLang="en-US" sz="2600">
                <a:latin typeface="Calibri" panose="020F0502020204030204"/>
                <a:cs typeface="Calibri" panose="020F0502020204030204"/>
              </a:rPr>
              <a:t></a:t>
            </a:r>
            <a:endParaRPr lang="zh-CN" altLang="en-US" sz="2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400300"/>
            <a:ext cx="6069965" cy="32785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95400" y="5829300"/>
            <a:ext cx="5702300" cy="308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1. Context &amp; Problem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874520" y="2476500"/>
            <a:ext cx="7063105" cy="475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altLang="en-US" sz="3000" b="1">
                <a:latin typeface="Calibri" panose="020F0502020204030204"/>
                <a:cs typeface="Calibri" panose="020F0502020204030204"/>
              </a:rPr>
              <a:t>Problem Statement</a:t>
            </a:r>
            <a:endParaRPr lang="en-US" altLang="en-US" sz="30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2600" y="3162300"/>
            <a:ext cx="7893685" cy="579945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Candidate side: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Manual browsing: 50–100 postings/week, low efficiency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No visibility into actual fit level for any position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No skill gap analysis — cannot improve strategically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Keyword search misses semantic equivalences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Recruiter side: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Manual CV screening: 50–250 CVs/position, 5–10 min each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No automated candidate ranking system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Mismatch rate &gt; 60% (VietnamWorks, 2024)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8" name="Picture 7" descr="Z0cTD8IqTMKhEJNGrRBW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0" y="2400300"/>
            <a:ext cx="5309235" cy="7078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dirty="0"/>
              <a:t>1. Context &amp; Problem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5" name="object 3"/>
          <p:cNvSpPr txBox="1"/>
          <p:nvPr/>
        </p:nvSpPr>
        <p:spPr>
          <a:xfrm>
            <a:off x="1905000" y="2534285"/>
            <a:ext cx="7063105" cy="475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0"/>
              </a:spcBef>
              <a:buNone/>
            </a:pPr>
            <a:r>
              <a:rPr lang="en-US" altLang="en-US" sz="3000" b="1">
                <a:latin typeface="Calibri" panose="020F0502020204030204"/>
                <a:cs typeface="Calibri" panose="020F0502020204030204"/>
              </a:rPr>
              <a:t>Objectives &amp; Solutions</a:t>
            </a:r>
            <a:endParaRPr lang="en-US" altLang="en-US" sz="3000" b="1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1905000" y="3390900"/>
          <a:ext cx="8717915" cy="4369435"/>
        </p:xfrm>
        <a:graphic>
          <a:graphicData uri="http://schemas.openxmlformats.org/drawingml/2006/table">
            <a:tbl>
              <a:tblPr/>
              <a:tblGrid>
                <a:gridCol w="680720"/>
                <a:gridCol w="6602095"/>
                <a:gridCol w="1435100"/>
              </a:tblGrid>
              <a:tr h="533400">
                <a:tc>
                  <a:txBody>
                    <a:bodyPr/>
                    <a:p>
                      <a:pPr marL="0" indent="0" algn="ctr"/>
                      <a:r>
                        <a:rPr lang="en-US" altLang="zh-CN" sz="2200" b="1" i="0">
                          <a:solidFill>
                            <a:schemeClr val="tx1"/>
                          </a:solidFill>
                          <a:latin typeface="+mj-lt"/>
                          <a:ea typeface="Segoe WPC"/>
                          <a:cs typeface="+mj-lt"/>
                        </a:rPr>
                        <a:t>#</a:t>
                      </a:r>
                      <a:endParaRPr lang="en-US" altLang="zh-CN" sz="2200" b="1" i="0">
                        <a:solidFill>
                          <a:schemeClr val="tx1"/>
                        </a:solidFill>
                        <a:latin typeface="+mj-lt"/>
                        <a:ea typeface="Segoe WPC"/>
                        <a:cs typeface="+mj-lt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 b="1">
                          <a:latin typeface="+mj-lt"/>
                          <a:cs typeface="+mj-lt"/>
                        </a:rPr>
                        <a:t>Objective</a:t>
                      </a:r>
                      <a:endParaRPr lang="en-US" altLang="zh-CN" sz="2200" b="1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 b="1">
                          <a:latin typeface="+mj-lt"/>
                          <a:cs typeface="+mj-lt"/>
                        </a:rPr>
                        <a:t>Outcome</a:t>
                      </a:r>
                      <a:endParaRPr lang="en-US" altLang="zh-CN" sz="2200" b="1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9455">
                <a:tc>
                  <a:txBody>
                    <a:bodyPr/>
                    <a:p>
                      <a:pPr marL="0" indent="0" algn="ctr"/>
                      <a:r>
                        <a:rPr lang="en-US" altLang="zh-CN" sz="2200" b="0" i="0">
                          <a:solidFill>
                            <a:schemeClr val="tx1"/>
                          </a:solidFill>
                          <a:latin typeface="+mj-lt"/>
                          <a:ea typeface="Segoe WPC"/>
                          <a:cs typeface="+mj-lt"/>
                        </a:rPr>
                        <a:t>1</a:t>
                      </a:r>
                      <a:endParaRPr lang="en-US" altLang="zh-CN" sz="2200" b="0" i="0">
                        <a:solidFill>
                          <a:schemeClr val="tx1"/>
                        </a:solidFill>
                        <a:latin typeface="+mj-lt"/>
                        <a:ea typeface="Segoe WPC"/>
                        <a:cs typeface="+mj-lt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  <a:cs typeface="+mj-lt"/>
                        </a:rPr>
                        <a:t>Market research, SWOT / PESTEL / Porter's Five Forces analysis</a:t>
                      </a:r>
                      <a:endParaRPr lang="en-US" altLang="zh-CN" sz="2200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</a:rPr>
                        <a:t>✅</a:t>
                      </a:r>
                      <a:endParaRPr lang="en-US" altLang="zh-CN" sz="2200">
                        <a:latin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/>
                    <a:p>
                      <a:pPr marL="0" indent="0" algn="ctr"/>
                      <a:r>
                        <a:rPr lang="en-US" altLang="zh-CN" sz="2200" b="0" i="0">
                          <a:solidFill>
                            <a:schemeClr val="tx1"/>
                          </a:solidFill>
                          <a:latin typeface="+mj-lt"/>
                          <a:ea typeface="Segoe WPC"/>
                          <a:cs typeface="+mj-lt"/>
                        </a:rPr>
                        <a:t>2</a:t>
                      </a:r>
                      <a:endParaRPr lang="en-US" altLang="zh-CN" sz="2200" b="0" i="0">
                        <a:solidFill>
                          <a:schemeClr val="tx1"/>
                        </a:solidFill>
                        <a:latin typeface="+mj-lt"/>
                        <a:ea typeface="Segoe WPC"/>
                        <a:cs typeface="+mj-lt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  <a:cs typeface="+mj-lt"/>
                        </a:rPr>
                        <a:t>Full-stack system design (12 database tables, 30 APIs)</a:t>
                      </a:r>
                      <a:endParaRPr lang="en-US" altLang="zh-CN" sz="2200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</a:rPr>
                        <a:t>✅</a:t>
                      </a:r>
                      <a:endParaRPr lang="en-US" altLang="zh-CN" sz="2200">
                        <a:latin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8160">
                <a:tc>
                  <a:txBody>
                    <a:bodyPr/>
                    <a:p>
                      <a:pPr marL="0" indent="0" algn="ctr"/>
                      <a:r>
                        <a:rPr lang="en-US" altLang="zh-CN" sz="2200" b="0" i="0">
                          <a:solidFill>
                            <a:schemeClr val="tx1"/>
                          </a:solidFill>
                          <a:latin typeface="+mj-lt"/>
                          <a:ea typeface="Segoe WPC"/>
                          <a:cs typeface="+mj-lt"/>
                        </a:rPr>
                        <a:t>3</a:t>
                      </a:r>
                      <a:endParaRPr lang="en-US" altLang="zh-CN" sz="2200" b="0" i="0">
                        <a:solidFill>
                          <a:schemeClr val="tx1"/>
                        </a:solidFill>
                        <a:latin typeface="+mj-lt"/>
                        <a:ea typeface="Segoe WPC"/>
                        <a:cs typeface="+mj-lt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  <a:cs typeface="+mj-lt"/>
                        </a:rPr>
                        <a:t>AI Engine development: Hybrid BM25 + SBERT</a:t>
                      </a:r>
                      <a:endParaRPr lang="en-US" altLang="zh-CN" sz="2200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</a:rPr>
                        <a:t>✅</a:t>
                      </a:r>
                      <a:endParaRPr lang="en-US" altLang="zh-CN" sz="2200">
                        <a:latin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260">
                <a:tc>
                  <a:txBody>
                    <a:bodyPr/>
                    <a:p>
                      <a:pPr marL="0" indent="0" algn="ctr"/>
                      <a:r>
                        <a:rPr lang="en-US" altLang="zh-CN" sz="2200" b="0" i="0">
                          <a:solidFill>
                            <a:schemeClr val="tx1"/>
                          </a:solidFill>
                          <a:latin typeface="+mj-lt"/>
                          <a:ea typeface="Segoe WPC"/>
                          <a:cs typeface="+mj-lt"/>
                        </a:rPr>
                        <a:t>4</a:t>
                      </a:r>
                      <a:endParaRPr lang="en-US" altLang="zh-CN" sz="2200" b="0" i="0">
                        <a:solidFill>
                          <a:schemeClr val="tx1"/>
                        </a:solidFill>
                        <a:latin typeface="+mj-lt"/>
                        <a:ea typeface="Segoe WPC"/>
                        <a:cs typeface="+mj-lt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  <a:cs typeface="+mj-lt"/>
                        </a:rPr>
                        <a:t>MVP development: FastAPI + Flutter (Web &amp; Mobile)</a:t>
                      </a:r>
                      <a:endParaRPr lang="en-US" altLang="zh-CN" sz="2200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</a:rPr>
                        <a:t>✅</a:t>
                      </a:r>
                      <a:endParaRPr lang="en-US" altLang="zh-CN" sz="2200">
                        <a:latin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7680">
                <a:tc>
                  <a:txBody>
                    <a:bodyPr/>
                    <a:p>
                      <a:pPr marL="0" indent="0" algn="ctr"/>
                      <a:r>
                        <a:rPr lang="en-US" altLang="zh-CN" sz="2200" b="0" i="0">
                          <a:solidFill>
                            <a:schemeClr val="tx1"/>
                          </a:solidFill>
                          <a:latin typeface="+mj-lt"/>
                          <a:ea typeface="Segoe WPC"/>
                          <a:cs typeface="+mj-lt"/>
                        </a:rPr>
                        <a:t>5</a:t>
                      </a:r>
                      <a:endParaRPr lang="en-US" altLang="zh-CN" sz="2200" b="0" i="0">
                        <a:solidFill>
                          <a:schemeClr val="tx1"/>
                        </a:solidFill>
                        <a:latin typeface="+mj-lt"/>
                        <a:ea typeface="Segoe WPC"/>
                        <a:cs typeface="+mj-lt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  <a:cs typeface="+mj-lt"/>
                        </a:rPr>
                        <a:t> Testing &amp; evaluation (21 test cases, TF-IDF vs Hybrid comparison)</a:t>
                      </a:r>
                      <a:endParaRPr lang="en-US" altLang="zh-CN" sz="2200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</a:rPr>
                        <a:t>✅</a:t>
                      </a:r>
                      <a:endParaRPr lang="en-US" altLang="zh-CN" sz="2200">
                        <a:latin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/>
                    <a:p>
                      <a:pPr marL="0" indent="0" algn="ctr"/>
                      <a:r>
                        <a:rPr lang="en-US" altLang="zh-CN" sz="2200" b="0" i="0">
                          <a:solidFill>
                            <a:schemeClr val="tx1"/>
                          </a:solidFill>
                          <a:latin typeface="+mj-lt"/>
                          <a:ea typeface="Segoe WPC"/>
                          <a:cs typeface="+mj-lt"/>
                        </a:rPr>
                        <a:t>6</a:t>
                      </a:r>
                      <a:endParaRPr lang="en-US" altLang="zh-CN" sz="2200" b="0" i="0">
                        <a:solidFill>
                          <a:schemeClr val="tx1"/>
                        </a:solidFill>
                        <a:latin typeface="+mj-lt"/>
                        <a:ea typeface="Segoe WPC"/>
                        <a:cs typeface="+mj-lt"/>
                      </a:endParaRPr>
                    </a:p>
                  </a:txBody>
                  <a:tcPr marL="0" marR="0" marT="0" marB="0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  <a:cs typeface="+mj-lt"/>
                        </a:rPr>
                        <a:t>Business model proposal (BMC, Lean Startup)</a:t>
                      </a:r>
                      <a:endParaRPr lang="en-US" altLang="zh-CN" sz="2200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2200">
                          <a:latin typeface="+mj-lt"/>
                        </a:rPr>
                        <a:t>✅</a:t>
                      </a:r>
                      <a:endParaRPr lang="en-US" altLang="zh-CN" sz="2200">
                        <a:latin typeface="+mj-lt"/>
                      </a:endParaRPr>
                    </a:p>
                  </a:txBody>
                  <a:tcPr marL="0" marR="0" marT="0" marB="0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10972800" y="3390900"/>
            <a:ext cx="6597015" cy="321691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Aft>
                <a:spcPct val="60000"/>
              </a:spcAft>
            </a:pPr>
            <a:r>
              <a:rPr lang="en-US" altLang="en-US" sz="2600" b="1" i="0">
                <a:solidFill>
                  <a:schemeClr val="tx1"/>
                </a:solidFill>
                <a:latin typeface="+mj-lt"/>
                <a:ea typeface="monospace"/>
                <a:cs typeface="+mj-lt"/>
              </a:rPr>
              <a:t>AI Job Match — Our Solution</a:t>
            </a:r>
            <a:endParaRPr lang="en-US" altLang="en-US" sz="2600" b="1" i="0">
              <a:solidFill>
                <a:schemeClr val="tx1"/>
              </a:solidFill>
              <a:latin typeface="+mj-lt"/>
              <a:ea typeface="monospace"/>
              <a:cs typeface="+mj-lt"/>
            </a:endParaRPr>
          </a:p>
          <a:p>
            <a:pPr marL="0" indent="0">
              <a:spcAft>
                <a:spcPct val="6000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monospace"/>
                <a:cs typeface="+mj-lt"/>
              </a:rPr>
              <a:t>Upload CV (PDF / DOCX / Image)</a:t>
            </a:r>
            <a:endParaRPr lang="en-US" altLang="en-US" sz="2600" b="0" i="0">
              <a:solidFill>
                <a:schemeClr val="tx1"/>
              </a:solidFill>
              <a:latin typeface="+mj-lt"/>
              <a:ea typeface="monospace"/>
              <a:cs typeface="+mj-lt"/>
            </a:endParaRPr>
          </a:p>
          <a:p>
            <a:pPr marL="0" indent="0">
              <a:spcAft>
                <a:spcPct val="6000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monospace"/>
                <a:cs typeface="+mj-lt"/>
              </a:rPr>
              <a:t>→ AI performs semantic matching analysis</a:t>
            </a:r>
            <a:endParaRPr lang="en-US" altLang="en-US" sz="2600" b="0" i="0">
              <a:solidFill>
                <a:schemeClr val="tx1"/>
              </a:solidFill>
              <a:latin typeface="+mj-lt"/>
              <a:ea typeface="monospace"/>
              <a:cs typeface="+mj-lt"/>
            </a:endParaRPr>
          </a:p>
          <a:p>
            <a:pPr marL="0" indent="0">
              <a:spcAft>
                <a:spcPct val="6000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monospace"/>
                <a:cs typeface="+mj-lt"/>
              </a:rPr>
              <a:t>→ Transparent scoring breakdown (Cosine % + Keyword + Industry)</a:t>
            </a:r>
            <a:endParaRPr lang="en-US" altLang="en-US" sz="2600" b="0" i="0">
              <a:solidFill>
                <a:schemeClr val="tx1"/>
              </a:solidFill>
              <a:latin typeface="+mj-lt"/>
              <a:ea typeface="monospace"/>
              <a:cs typeface="+mj-lt"/>
            </a:endParaRPr>
          </a:p>
          <a:p>
            <a:pPr marL="0" indent="0">
              <a:spcAft>
                <a:spcPct val="6000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monospace"/>
                <a:cs typeface="+mj-lt"/>
              </a:rPr>
              <a:t>→ Top-10 best-fit jobs + Missing Skills report</a:t>
            </a:r>
            <a:endParaRPr lang="en-US" altLang="en-US" sz="2600" b="0" i="0">
              <a:solidFill>
                <a:schemeClr val="tx1"/>
              </a:solidFill>
              <a:latin typeface="+mj-lt"/>
              <a:ea typeface="monospace"/>
              <a:cs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20543" y="1044575"/>
            <a:ext cx="9493517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+mj-lt"/>
                <a:cs typeface="+mj-lt"/>
              </a:rPr>
              <a:t>2. Technologies </a:t>
            </a:r>
            <a:r>
              <a:rPr spc="-20" dirty="0">
                <a:latin typeface="+mj-lt"/>
                <a:cs typeface="+mj-lt"/>
              </a:rPr>
              <a:t>Used</a:t>
            </a:r>
            <a:endParaRPr spc="-20" dirty="0">
              <a:latin typeface="+mj-lt"/>
              <a:cs typeface="+mj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2552700"/>
            <a:ext cx="15042515" cy="6384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System</a:t>
            </a:r>
            <a:r>
              <a:rPr spc="-20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Design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3820543" y="4877119"/>
            <a:ext cx="26949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System</a:t>
            </a:r>
            <a:r>
              <a:rPr sz="2500" b="1" spc="-9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Architecture</a:t>
            </a:r>
            <a:endParaRPr sz="25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97685"/>
            <a:ext cx="6828790" cy="7929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System</a:t>
            </a:r>
            <a:r>
              <a:rPr spc="-20" dirty="0"/>
              <a:t> </a:t>
            </a:r>
            <a:r>
              <a:rPr dirty="0"/>
              <a:t>Analysis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Design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287208" y="8152661"/>
            <a:ext cx="23520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500" b="1" spc="-6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case</a:t>
            </a:r>
            <a:r>
              <a:rPr sz="2500" b="1" spc="-6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Diagram</a:t>
            </a:r>
            <a:endParaRPr sz="25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57136" y="8741382"/>
            <a:ext cx="186626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Class</a:t>
            </a:r>
            <a:r>
              <a:rPr sz="2500" b="1" spc="-7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Diagram</a:t>
            </a:r>
            <a:endParaRPr sz="25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2009775"/>
            <a:ext cx="6590030" cy="61429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2208530"/>
            <a:ext cx="7856220" cy="6379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52548" y="1010920"/>
            <a:ext cx="9493517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5" dirty="0"/>
              <a:t> </a:t>
            </a:r>
            <a:r>
              <a:rPr dirty="0"/>
              <a:t>AI</a:t>
            </a:r>
            <a:r>
              <a:rPr spc="-25" dirty="0"/>
              <a:t> </a:t>
            </a:r>
            <a:r>
              <a:rPr spc="-10" dirty="0"/>
              <a:t>Technologies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9601200" y="3009900"/>
            <a:ext cx="8150860" cy="485584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BM25 (Lexical Match)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225"/>
              </a:spcBef>
              <a:buNone/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Precisely matches hard-skill keywords.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225"/>
              </a:spcBef>
              <a:buNone/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Example: FastAPI, React, Docker.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SBERT (Semantic Match)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225"/>
              </a:spcBef>
              <a:buNone/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Uses the vietnamese-sbert model to understand Vietnamese semantics.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225"/>
              </a:spcBef>
              <a:buNone/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Captures synonyms and contextual meaning. 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225"/>
              </a:spcBef>
              <a:buNone/>
            </a:pPr>
            <a:r>
              <a:rPr lang="en-US" altLang="en-US" sz="2600">
                <a:latin typeface="Calibri" panose="020F0502020204030204"/>
                <a:cs typeface="Calibri" panose="020F0502020204030204"/>
              </a:rPr>
              <a:t>Example: Lập trình viên = Developer.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1225"/>
              </a:spcBef>
              <a:buFont typeface="Arial" panose="020B0604020202020204" pitchFamily="34" charset="0"/>
              <a:buChar char="•"/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Weighted FusionHybrid Score</a:t>
            </a:r>
            <a:r>
              <a:rPr lang="en-US" altLang="en-US" sz="2600">
                <a:latin typeface="Calibri" panose="020F0502020204030204"/>
                <a:cs typeface="Calibri" panose="020F0502020204030204"/>
              </a:rPr>
              <a:t> =(BM25×0.4)+(SBERT×0.6).</a:t>
            </a:r>
            <a:endParaRPr lang="en-US" altLang="en-US" sz="2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476500"/>
            <a:ext cx="8725535" cy="6103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5" dirty="0"/>
              <a:t> </a:t>
            </a:r>
            <a:r>
              <a:rPr dirty="0"/>
              <a:t>AI</a:t>
            </a:r>
            <a:r>
              <a:rPr spc="-25" dirty="0"/>
              <a:t> </a:t>
            </a:r>
            <a:r>
              <a:rPr spc="-10" dirty="0"/>
              <a:t>Technologies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33655" y="2323975"/>
            <a:ext cx="5807710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Supporting AI Modules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439400" y="3390900"/>
            <a:ext cx="7001510" cy="4935220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Resume Parsing (Tesseract OCR)</a:t>
            </a:r>
            <a:endParaRPr lang="en-US" altLang="en-US" sz="2600" b="1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Recognizes text from image and PDF-based CVs.</a:t>
            </a:r>
            <a:endParaRPr lang="en-US" altLang="en-US" sz="2600" b="0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0" indent="0" algn="just">
              <a:spcBef>
                <a:spcPct val="0"/>
              </a:spcBef>
              <a:spcAft>
                <a:spcPct val="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Converts raw file data into readable text for AI processing.</a:t>
            </a:r>
            <a:endParaRPr lang="en-US" altLang="en-US" sz="2600" b="0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Industry Classification (SVM)</a:t>
            </a:r>
            <a:endParaRPr lang="en-US" altLang="en-US" sz="2600" b="1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Uses Machine Learning (TF-IDF + SVM) for ultra-fast classification.</a:t>
            </a:r>
            <a:endParaRPr lang="en-US" altLang="en-US" sz="2600" b="0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Automatically labels industry categories (IT, Marketing, Sales, etc.) for both jobs and CVs.</a:t>
            </a:r>
            <a:endParaRPr lang="en-US" altLang="en-US" sz="2600" b="0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342900" indent="-3429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b="1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System Optimization</a:t>
            </a:r>
            <a:endParaRPr lang="en-US" altLang="en-US" sz="2600" b="1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Vectorizer Cache: Keeps the AI model preloaded in RAM.</a:t>
            </a:r>
            <a:endParaRPr lang="en-US" altLang="en-US" sz="2600" b="0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2600" b="0" i="0">
                <a:solidFill>
                  <a:schemeClr val="tx1"/>
                </a:solidFill>
                <a:latin typeface="+mj-lt"/>
                <a:ea typeface="Segoe WPC"/>
                <a:cs typeface="+mj-lt"/>
              </a:rPr>
              <a:t>Sub-second latency for scanning thousands of CVs per request.</a:t>
            </a:r>
            <a:endParaRPr lang="en-US" altLang="en-US" sz="2600" b="0" i="0">
              <a:solidFill>
                <a:schemeClr val="tx1"/>
              </a:solidFill>
              <a:latin typeface="+mj-lt"/>
              <a:ea typeface="Segoe WPC"/>
              <a:cs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933700"/>
            <a:ext cx="9648190" cy="5848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 Conclusion &amp; </a:t>
            </a:r>
            <a:r>
              <a:rPr spc="-20" dirty="0"/>
              <a:t>Demo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954125" y="1947565"/>
            <a:ext cx="4950460" cy="1569720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10"/>
              </a:spcBef>
            </a:pPr>
            <a:r>
              <a:rPr sz="3600" spc="-114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✅</a:t>
            </a:r>
            <a:r>
              <a:rPr sz="3600" spc="-139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32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ACHIEVEMENTS: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2800" spc="-500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endParaRPr sz="25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0030" y="3216141"/>
            <a:ext cx="5143500" cy="175196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500" b="1" spc="-64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  <a:sym typeface="+mn-ea"/>
              </a:rPr>
              <a:t>📱</a:t>
            </a:r>
            <a:r>
              <a:rPr lang="vi-VN" altLang="" sz="2500" b="1" spc="-64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  <a:sym typeface="+mn-ea"/>
              </a:rPr>
              <a:t>   </a:t>
            </a:r>
            <a:r>
              <a:rPr lang="en-US" altLang="en-US" sz="2500" b="1">
                <a:latin typeface="Calibri" panose="020F0502020204030204"/>
                <a:cs typeface="Calibri" panose="020F0502020204030204"/>
              </a:rPr>
              <a:t>FRONTEND APP (Flutter):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13+ complete screens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 panose="020B0604020202020204" pitchFamily="34" charset="0"/>
              <a:buChar char="•"/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Cross-platform: Web, Android, iOS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2214" y="5600625"/>
            <a:ext cx="4649470" cy="3214370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800" b="1" spc="-6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🤖</a:t>
            </a:r>
            <a:r>
              <a:rPr sz="2800" b="1" spc="-108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2500" b="1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2500" b="1" spc="-5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MODULES:</a:t>
            </a:r>
            <a:endParaRPr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9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Hybrid Engine: BM25 + SBERT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9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SVM Industry Classification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9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Tesseract OCR for CV parsing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9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Vector Cache (Sub-second latency</a:t>
            </a:r>
            <a:r>
              <a:rPr lang="vi-VN" altLang="en-US" sz="2500" b="1">
                <a:latin typeface="Calibri" panose="020F0502020204030204"/>
                <a:cs typeface="Calibri" panose="020F0502020204030204"/>
              </a:rPr>
              <a:t>)</a:t>
            </a:r>
            <a:endParaRPr lang="vi-VN" altLang="en-US" sz="25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53207" y="2717143"/>
            <a:ext cx="3658870" cy="227901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800" spc="-6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🖥</a:t>
            </a:r>
            <a:r>
              <a:rPr sz="2800" spc="-1080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25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BACKEND:</a:t>
            </a:r>
            <a:endParaRPr sz="2500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9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30+ REST API endpoints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9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7 core database tables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9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Uvicorn ASGI Server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01400" y="5560060"/>
            <a:ext cx="4838065" cy="2244725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800" b="1" spc="-6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💳</a:t>
            </a:r>
            <a:r>
              <a:rPr sz="2800" b="1" spc="-1080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25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INTEGRATIONS:</a:t>
            </a:r>
            <a:endParaRPr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4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Firebase Auth (Google Sign-In) ️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4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ShadCN UI + GoRouter ✔️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  <a:p>
            <a:pPr marL="384810" indent="-228600">
              <a:lnSpc>
                <a:spcPct val="100000"/>
              </a:lnSpc>
              <a:spcBef>
                <a:spcPts val="1240"/>
              </a:spcBef>
              <a:buChar char="•"/>
              <a:tabLst>
                <a:tab pos="384810" algn="l"/>
              </a:tabLst>
            </a:pPr>
            <a:r>
              <a:rPr lang="en-US" altLang="en-US" sz="2500" b="1">
                <a:latin typeface="Calibri" panose="020F0502020204030204"/>
                <a:cs typeface="Calibri" panose="020F0502020204030204"/>
              </a:rPr>
              <a:t>Docker + Docker Compose ✔️</a:t>
            </a:r>
            <a:endParaRPr lang="en-US" altLang="en-US" sz="2500" b="1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 Conclusion &amp; </a:t>
            </a:r>
            <a:r>
              <a:rPr spc="-20" dirty="0"/>
              <a:t>Demo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2361987" y="2933518"/>
            <a:ext cx="6313170" cy="3547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500" b="1" spc="-35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⚠</a:t>
            </a:r>
            <a:r>
              <a:rPr sz="3500" b="1" spc="-1310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sz="32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LIMITATIONS:</a:t>
            </a:r>
            <a:endParaRPr sz="3200" b="1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580"/>
              </a:spcBef>
              <a:buChar char="•"/>
              <a:tabLst>
                <a:tab pos="241300" algn="l"/>
              </a:tabLst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Not yet deployed to cloud production (AWS/GCP)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580"/>
              </a:spcBef>
              <a:buChar char="•"/>
              <a:tabLst>
                <a:tab pos="241300" algn="l"/>
              </a:tabLst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Lack of A/B testing on large-scale real user data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580"/>
              </a:spcBef>
              <a:buChar char="•"/>
              <a:tabLst>
                <a:tab pos="241300" algn="l"/>
              </a:tabLst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Cover letter generation is not yet supported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5600" y="2857500"/>
            <a:ext cx="6687185" cy="470217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14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🚀</a:t>
            </a:r>
            <a:r>
              <a:rPr sz="3600" b="1" spc="-1390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</a:t>
            </a:r>
            <a:r>
              <a:rPr lang="vi-VN" altLang="" sz="3600" b="1" spc="-1390" dirty="0">
                <a:solidFill>
                  <a:srgbClr val="1F212E"/>
                </a:solidFill>
                <a:latin typeface="SimSun-ExtB" panose="02010609060101010101" charset="-122"/>
                <a:cs typeface="SimSun-ExtB" panose="02010609060101010101" charset="-122"/>
              </a:rPr>
              <a:t>   </a:t>
            </a:r>
            <a:r>
              <a:rPr sz="3200" b="1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FUTURE</a:t>
            </a:r>
            <a:r>
              <a:rPr sz="3200" b="1" spc="-7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DEVELOPMENT:</a:t>
            </a:r>
            <a:endParaRPr sz="3200" b="1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560"/>
              </a:spcBef>
              <a:buChar char="•"/>
              <a:tabLst>
                <a:tab pos="241300" algn="l"/>
              </a:tabLst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Deploy to cloud (AWS/GCP) with CI/CD pipeline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560"/>
              </a:spcBef>
              <a:buChar char="•"/>
              <a:tabLst>
                <a:tab pos="241300" algn="l"/>
              </a:tabLst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A/B Testing to optimize BM25 vs SBERT weights (0.4 / 0.6)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560"/>
              </a:spcBef>
              <a:buChar char="•"/>
              <a:tabLst>
                <a:tab pos="241300" algn="l"/>
              </a:tabLst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Integrate Generative AI (LLMs) for automated cover letters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2560"/>
              </a:spcBef>
              <a:buChar char="•"/>
              <a:tabLst>
                <a:tab pos="241300" algn="l"/>
              </a:tabLst>
            </a:pPr>
            <a:r>
              <a:rPr lang="en-US" altLang="en-US" sz="2600" b="1">
                <a:latin typeface="Calibri" panose="020F0502020204030204"/>
                <a:cs typeface="Calibri" panose="020F0502020204030204"/>
              </a:rPr>
              <a:t>Implement Collaborative Filtering for behavior-based suggestions</a:t>
            </a:r>
            <a:endParaRPr lang="en-US" altLang="en-US" sz="2600" b="1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3244" y="4134845"/>
            <a:ext cx="8621395" cy="1610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400" dirty="0"/>
              <a:t>PROJECT</a:t>
            </a:r>
            <a:r>
              <a:rPr sz="10400" spc="-265" dirty="0"/>
              <a:t> </a:t>
            </a:r>
            <a:r>
              <a:rPr sz="10400" spc="-20" dirty="0"/>
              <a:t>DEMO</a:t>
            </a:r>
            <a:endParaRPr sz="10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400" dirty="0"/>
              <a:t>THANK</a:t>
            </a:r>
            <a:r>
              <a:rPr sz="10400" spc="-295" dirty="0"/>
              <a:t> </a:t>
            </a:r>
            <a:r>
              <a:rPr sz="10400" spc="-25" dirty="0"/>
              <a:t>YOU</a:t>
            </a:r>
            <a:endParaRPr sz="10400"/>
          </a:p>
        </p:txBody>
      </p:sp>
      <p:sp>
        <p:nvSpPr>
          <p:cNvPr id="3" name="object 3"/>
          <p:cNvSpPr txBox="1"/>
          <p:nvPr/>
        </p:nvSpPr>
        <p:spPr>
          <a:xfrm>
            <a:off x="7312107" y="6209526"/>
            <a:ext cx="36639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Q&amp;A</a:t>
            </a:r>
            <a:r>
              <a:rPr sz="5000" b="1" spc="-55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000" b="1" spc="-10" dirty="0">
                <a:solidFill>
                  <a:srgbClr val="1F212E"/>
                </a:solidFill>
                <a:latin typeface="Calibri" panose="020F0502020204030204"/>
                <a:cs typeface="Calibri" panose="020F0502020204030204"/>
              </a:rPr>
              <a:t>SESSION</a:t>
            </a:r>
            <a:endParaRPr sz="5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6*327"/>
  <p:tag name="TABLE_ENDDRAG_RECT" val="150*240*686*32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3750</Words>
  <Application>WPS Presentation</Application>
  <PresentationFormat>On-screen Show (4:3)</PresentationFormat>
  <Paragraphs>185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SimSun-ExtB</vt:lpstr>
      <vt:lpstr>Yu Gothic</vt:lpstr>
      <vt:lpstr>Times New Roman</vt:lpstr>
      <vt:lpstr>Microsoft YaHei</vt:lpstr>
      <vt:lpstr>Arial Unicode MS</vt:lpstr>
      <vt:lpstr>Segoe WPC</vt:lpstr>
      <vt:lpstr>Segoe Print</vt:lpstr>
      <vt:lpstr>Calibri</vt:lpstr>
      <vt:lpstr>monospace</vt:lpstr>
      <vt:lpstr>Arial</vt:lpstr>
      <vt:lpstr>Office Theme</vt:lpstr>
      <vt:lpstr>BUILDING A CROSS-PLATFORM INTELLIGENT TOURISM SYSTEM USING AI</vt:lpstr>
      <vt:lpstr>PRESENTATION OUTLINE</vt:lpstr>
      <vt:lpstr>1. Context &amp; Problem Statement</vt:lpstr>
      <vt:lpstr>1. Context &amp; Problem Statement</vt:lpstr>
      <vt:lpstr>1. Context &amp; Problem Statement</vt:lpstr>
      <vt:lpstr>2. Technologies Used</vt:lpstr>
      <vt:lpstr>3. System Analysis and Design</vt:lpstr>
      <vt:lpstr>3. System Analysis and Design</vt:lpstr>
      <vt:lpstr>4. AI Technologies</vt:lpstr>
      <vt:lpstr>4. AI Technologies</vt:lpstr>
      <vt:lpstr>5. Conclusion &amp; Demo</vt:lpstr>
      <vt:lpstr>5. Conclusion &amp; Demo</vt:lpstr>
      <vt:lpstr>PROJECT DEMO</vt:lpstr>
      <vt:lpstr>THANK YOU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CROSS-PLATFORM INTELLIGENT TOURISM SYSTEM USING AI</dc:title>
  <dc:creator>Công Nguyễn</dc:creator>
  <cp:keywords>DAG91BQddlc,BAFIluGmaww,0</cp:keywords>
  <cp:lastModifiedBy>Võ Bình Minh</cp:lastModifiedBy>
  <cp:revision>6</cp:revision>
  <dcterms:created xsi:type="dcterms:W3CDTF">2026-06-05T15:56:00Z</dcterms:created>
  <dcterms:modified xsi:type="dcterms:W3CDTF">2026-06-06T08:53:10Z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2026-01-08T14:00:00Z</vt:filetime>
  </property>
  <property fmtid="{D5CDD505-2E9C-101B-9397-08002B2CF9AE}" pid="4" name="Creator">
    <vt:lpwstr>Canva</vt:lpwstr>
  </property>
  <property fmtid="{D5CDD505-2E9C-101B-9397-08002B2CF9AE}" pid="5" name="LastSaved">
    <vt:filetime>2026-06-05T14:00:00Z</vt:filetime>
  </property>
  <property fmtid="{D5CDD505-2E9C-101B-9397-08002B2CF9AE}" pid="6" name="Producer">
    <vt:lpwstr>Canva</vt:lpwstr>
  </property>
  <property fmtid="{D5CDD505-2E9C-101B-9397-08002B2CF9AE}" pid="7" name="KSOProductBuildVer">
    <vt:lpwstr>1033-12.1.0.26880</vt:lpwstr>
  </property>
  <property fmtid="{D5CDD505-2E9C-101B-9397-08002B2CF9AE}" pid="8" name="ICV">
    <vt:lpwstr>99C1083F6A8145DC8052CC1CA6CA4644_12</vt:lpwstr>
  </property>
</Properties>
</file>